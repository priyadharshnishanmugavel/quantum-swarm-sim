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82296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1828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6400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2743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7315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1828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54864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82296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0" y="2743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6459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22860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28016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192024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5544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1031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13716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8288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260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34747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38404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2004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420624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83464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43891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0" y="338328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0" y="448056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466344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484632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4572000"/>
            <a:ext cx="36576" cy="365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0" y="274320"/>
            <a:ext cx="4754880" cy="4754880"/>
          </a:xfrm>
          <a:prstGeom prst="ellipse">
            <a:avLst/>
          </a:prstGeom>
          <a:solidFill>
            <a:srgbClr val="04051A"/>
          </a:solidFill>
          <a:ln w="19050">
            <a:solidFill>
              <a:srgbClr val="00E5FF"/>
            </a:solidFill>
            <a:prstDash val="dash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1463040"/>
            <a:ext cx="73152" cy="2286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1417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NAKSHATRANET</a:t>
            </a:r>
            <a:endParaRPr lang="en-US" sz="5200" dirty="0"/>
          </a:p>
        </p:txBody>
      </p:sp>
      <p:sp>
        <p:nvSpPr>
          <p:cNvPr id="35" name="Text 33"/>
          <p:cNvSpPr/>
          <p:nvPr/>
        </p:nvSpPr>
        <p:spPr>
          <a:xfrm>
            <a:off x="640080" y="2377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SWARM DEBRIS SHIELD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40080" y="2971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team protects the spacecraft. We protect the orbital environment it flies in."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6817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Space Hackathon 2026  </a:t>
            </a:r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IIT Delhi  |  Solo Submission  |  🇮🇳 From Madurai to Multiplanetary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35240" y="777240"/>
            <a:ext cx="128016" cy="12801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74920" y="347472"/>
            <a:ext cx="128016" cy="12801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360920" y="3154680"/>
            <a:ext cx="128016" cy="12801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THE TRIPLE CRISIS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orbital future faces three simultaneous threats — all unsolved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3566160"/>
          </a:xfrm>
          <a:prstGeom prst="rect">
            <a:avLst/>
          </a:prstGeom>
          <a:solidFill>
            <a:srgbClr val="0D1B6E"/>
          </a:solidFill>
          <a:ln w="25400">
            <a:solidFill>
              <a:srgbClr val="FF33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743200" cy="73152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33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DEBRIS EXPLOSION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33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27,000+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 objects in orbit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129+ from ISRO alone. A 1cm fragment hits with the force of a hand grenade at 28,000 km/h. Kessler Syndrome threatens all satellites by 2030.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4992" y="1325880"/>
            <a:ext cx="2743200" cy="3566160"/>
          </a:xfrm>
          <a:prstGeom prst="rect">
            <a:avLst/>
          </a:prstGeom>
          <a:solidFill>
            <a:srgbClr val="0D1B6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64992" y="1325880"/>
            <a:ext cx="27432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02152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BLIND TRACKING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02152" y="2331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6-12 hrs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502152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radar reaction 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02152" y="33832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stations only track objects &gt;10cm. Single point of failure. No real-time satellite-to-satellite coordination exists anywhere.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325880"/>
            <a:ext cx="2743200" cy="3566160"/>
          </a:xfrm>
          <a:prstGeom prst="rect">
            <a:avLst/>
          </a:prstGeom>
          <a:solidFill>
            <a:srgbClr val="0D1B6E"/>
          </a:solidFill>
          <a:ln w="2540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325880"/>
            <a:ext cx="274320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3796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CRYPTO COLLAPSE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2331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2028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53796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encryption broken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33832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computers will crack classical encryption before Gaganyaan's mission ends. ISRO has zero quantum-secure communication plan.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457200"/>
            <a:ext cx="3566160" cy="3566160"/>
          </a:xfrm>
          <a:prstGeom prst="ellipse">
            <a:avLst/>
          </a:prstGeom>
          <a:solidFill>
            <a:srgbClr val="04051A"/>
          </a:solidFill>
          <a:ln w="12700">
            <a:solidFill>
              <a:srgbClr val="00E5FF"/>
            </a:solidFill>
            <a:prstDash val="dash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1645920"/>
            <a:ext cx="1188720" cy="1188720"/>
          </a:xfrm>
          <a:prstGeom prst="ellipse">
            <a:avLst/>
          </a:prstGeom>
          <a:solidFill>
            <a:srgbClr val="1A6B3C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81328" y="169164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164592" cy="16459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731520"/>
            <a:ext cx="164592" cy="16459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51760" y="594360"/>
            <a:ext cx="164592" cy="16459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737360"/>
            <a:ext cx="164592" cy="16459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3200400"/>
            <a:ext cx="164592" cy="16459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3749040"/>
            <a:ext cx="164592" cy="16459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274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6858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NakshatraNet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389120" y="15087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satellite swarm with quantum-secure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communication for real-time debris elimination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2377440"/>
            <a:ext cx="4389120" cy="548640"/>
          </a:xfrm>
          <a:prstGeom prst="rect">
            <a:avLst/>
          </a:prstGeom>
          <a:solidFill>
            <a:srgbClr val="0D1B6E"/>
          </a:solidFill>
          <a:ln w="12700">
            <a:solidFill>
              <a:srgbClr val="3D3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05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🛰️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83480" y="2414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Boids Swarm Intelligence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self-organize — separation, alignment, cohesion + debris avoidance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3035808"/>
            <a:ext cx="4389120" cy="548640"/>
          </a:xfrm>
          <a:prstGeom prst="rect">
            <a:avLst/>
          </a:prstGeom>
          <a:solidFill>
            <a:srgbClr val="0D1B6E"/>
          </a:solidFill>
          <a:ln w="12700">
            <a:solidFill>
              <a:srgbClr val="3D3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3072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BB84 Quantum Key Distribution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310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Photon-based unbreakable keys between satellites via laser links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3694176"/>
            <a:ext cx="4389120" cy="548640"/>
          </a:xfrm>
          <a:prstGeom prst="rect">
            <a:avLst/>
          </a:prstGeom>
          <a:solidFill>
            <a:srgbClr val="0D1B6E"/>
          </a:solidFill>
          <a:ln w="12700">
            <a:solidFill>
              <a:srgbClr val="3D3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056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83480" y="3730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Eavesdropper Detection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968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QBER &gt; 11% triggers alert + auto-fallback to Kyber-768 PQC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4352544"/>
            <a:ext cx="4389120" cy="548640"/>
          </a:xfrm>
          <a:prstGeom prst="rect">
            <a:avLst/>
          </a:prstGeom>
          <a:solidFill>
            <a:srgbClr val="0D1B6E"/>
          </a:solidFill>
          <a:ln w="12700">
            <a:solidFill>
              <a:srgbClr val="3D3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48056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☄️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83480" y="4389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ISRO Debris Catalog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4626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PSLV-C37, SpaDeX, Cartosat — tracked with threat classification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4389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autonomous satellites  •  BB84 + Kyber-768  •  Real-time API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554480" cy="3474720"/>
          </a:xfrm>
          <a:prstGeom prst="rect">
            <a:avLst/>
          </a:prstGeom>
          <a:solidFill>
            <a:srgbClr val="04051A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55448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097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3192" y="13898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Swarm Agents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920240"/>
            <a:ext cx="14081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CubeSats in LEO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Boids path-planning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correction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92808" y="2743200"/>
            <a:ext cx="128016" cy="0"/>
          </a:xfrm>
          <a:prstGeom prst="line">
            <a:avLst/>
          </a:prstGeom>
          <a:noFill/>
          <a:ln w="25400">
            <a:solidFill>
              <a:srgbClr val="8892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1005840"/>
            <a:ext cx="1554480" cy="3474720"/>
          </a:xfrm>
          <a:prstGeom prst="rect">
            <a:avLst/>
          </a:prstGeom>
          <a:solidFill>
            <a:srgbClr val="04051A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39112" y="1005840"/>
            <a:ext cx="15544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12264" y="1097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12264" y="13898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Debris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12264" y="1920240"/>
            <a:ext cx="14081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+ TLE fusion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ISRO catalog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classification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11880" y="2743200"/>
            <a:ext cx="128016" cy="0"/>
          </a:xfrm>
          <a:prstGeom prst="line">
            <a:avLst/>
          </a:prstGeom>
          <a:noFill/>
          <a:ln w="25400">
            <a:solidFill>
              <a:srgbClr val="8892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58184" y="1005840"/>
            <a:ext cx="1554480" cy="3474720"/>
          </a:xfrm>
          <a:prstGeom prst="rect">
            <a:avLst/>
          </a:prstGeom>
          <a:solidFill>
            <a:srgbClr val="04051A"/>
          </a:solidFill>
          <a:ln w="2540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58184" y="1005840"/>
            <a:ext cx="155448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31336" y="1097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31336" y="13898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QKD Laser Links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31336" y="1920240"/>
            <a:ext cx="14081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BB84 photon protocol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QBER monitoring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detection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30952" y="2743200"/>
            <a:ext cx="128016" cy="0"/>
          </a:xfrm>
          <a:prstGeom prst="line">
            <a:avLst/>
          </a:prstGeom>
          <a:noFill/>
          <a:ln w="25400">
            <a:solidFill>
              <a:srgbClr val="8892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7256" y="1005840"/>
            <a:ext cx="1554480" cy="3474720"/>
          </a:xfrm>
          <a:prstGeom prst="rect">
            <a:avLst/>
          </a:prstGeom>
          <a:solidFill>
            <a:srgbClr val="04051A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77256" y="1005840"/>
            <a:ext cx="155448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0408" y="1097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50408" y="13898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Distributed Catalog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50408" y="1920240"/>
            <a:ext cx="14081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debris 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50024" y="2743200"/>
            <a:ext cx="128016" cy="0"/>
          </a:xfrm>
          <a:prstGeom prst="line">
            <a:avLst/>
          </a:prstGeom>
          <a:noFill/>
          <a:ln w="25400">
            <a:solidFill>
              <a:srgbClr val="8892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96328" y="1005840"/>
            <a:ext cx="1554480" cy="3474720"/>
          </a:xfrm>
          <a:prstGeom prst="rect">
            <a:avLst/>
          </a:prstGeom>
          <a:solidFill>
            <a:srgbClr val="04051A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96328" y="1005840"/>
            <a:ext cx="155448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1097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69480" y="13898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API + Dashboard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9480" y="1920240"/>
            <a:ext cx="14081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live 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 UI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feeds into the next — fully modular, dockerized, deployable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ALGORITHMS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3840480"/>
          </a:xfrm>
          <a:prstGeom prst="rect">
            <a:avLst/>
          </a:prstGeom>
          <a:solidFill>
            <a:srgbClr val="0D1B6E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🐦  BOIDS SWARM INTELLIGENCE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73152" cy="41148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18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013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away from crowding neighbors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73152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velocity of nearby satellites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73152" cy="4114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62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0449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toward group center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65576"/>
            <a:ext cx="73152" cy="4114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838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 AVOID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6667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force — overrides all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87368"/>
            <a:ext cx="73152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05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FIX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2885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Lyapunov correction to orbital 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005840"/>
            <a:ext cx="4023360" cy="3840480"/>
          </a:xfrm>
          <a:prstGeom prst="rect">
            <a:avLst/>
          </a:prstGeom>
          <a:solidFill>
            <a:srgbClr val="0D1B6E"/>
          </a:solidFill>
          <a:ln w="2540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BB84 QUANTUM KEY DISTRIBUTION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1600200"/>
            <a:ext cx="73152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618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18013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generates random bits + bases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121408"/>
            <a:ext cx="73152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1396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23225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Photons sent via 1550nm laser link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2642616"/>
            <a:ext cx="73152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6609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28437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measures with random bases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3163824"/>
            <a:ext cx="73152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1821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0" y="33649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Sifting — keep matching basis bits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3685032"/>
            <a:ext cx="73152" cy="384048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703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38862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QBER &gt; 11% → Eve detected → ABORT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4206240"/>
            <a:ext cx="73152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4224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44074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Kyber-768 post-quantum crypto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API ENDPOINTS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— live at localhost:8000/docs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60520" cy="749808"/>
          </a:xfrm>
          <a:prstGeom prst="rect">
            <a:avLst/>
          </a:prstGeom>
          <a:solidFill>
            <a:srgbClr val="04051A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435608"/>
            <a:ext cx="502920" cy="25603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35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0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/swarm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satellite swarm positions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160520" cy="749808"/>
          </a:xfrm>
          <a:prstGeom prst="rect">
            <a:avLst/>
          </a:prstGeom>
          <a:solidFill>
            <a:srgbClr val="04051A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" y="2304288"/>
            <a:ext cx="502920" cy="25603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3042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0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/swarm/update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060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simulation + collision detection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4160520" cy="749808"/>
          </a:xfrm>
          <a:prstGeom prst="rect">
            <a:avLst/>
          </a:prstGeom>
          <a:solidFill>
            <a:srgbClr val="04051A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" y="3172968"/>
            <a:ext cx="502920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1729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0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3154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/debris/catalog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ISRO-inspired debris catalog with threat levels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931920"/>
            <a:ext cx="4160520" cy="749808"/>
          </a:xfrm>
          <a:prstGeom prst="rect">
            <a:avLst/>
          </a:prstGeom>
          <a:solidFill>
            <a:srgbClr val="04051A"/>
          </a:solidFill>
          <a:ln w="12700">
            <a:solidFill>
              <a:srgbClr val="FF33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4041648"/>
            <a:ext cx="502920" cy="256032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40416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0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/debris/critical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343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CRITICAL + HIGH threat objects only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325880"/>
            <a:ext cx="4160520" cy="749808"/>
          </a:xfrm>
          <a:prstGeom prst="rect">
            <a:avLst/>
          </a:prstGeom>
          <a:solidFill>
            <a:srgbClr val="04051A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64608" y="1435608"/>
            <a:ext cx="502920" cy="25603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435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0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4068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/secure?threat=High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17373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BB84 QKD + Eve attack → QBER spike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194560"/>
            <a:ext cx="4160520" cy="749808"/>
          </a:xfrm>
          <a:prstGeom prst="rect">
            <a:avLst/>
          </a:prstGeom>
          <a:solidFill>
            <a:srgbClr val="04051A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64608" y="2304288"/>
            <a:ext cx="502920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3042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0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4068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/laser_link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26060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QKD laser link quality between two satellites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063240"/>
            <a:ext cx="4160520" cy="749808"/>
          </a:xfrm>
          <a:prstGeom prst="rect">
            <a:avLst/>
          </a:prstGeom>
          <a:solidFill>
            <a:srgbClr val="04051A"/>
          </a:solidFill>
          <a:ln w="12700">
            <a:solidFill>
              <a:srgbClr val="FF33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64608" y="3172968"/>
            <a:ext cx="502920" cy="256032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1729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0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40680" y="3154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/collision_warnings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3474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dangerous satellite-debris close approaches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931920"/>
            <a:ext cx="4160520" cy="749808"/>
          </a:xfrm>
          <a:prstGeom prst="rect">
            <a:avLst/>
          </a:prstGeom>
          <a:solidFill>
            <a:srgbClr val="04051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64608" y="4041648"/>
            <a:ext cx="502920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40416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0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4068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/mission_status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92040" y="4343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mission health: swarm + debris + quantum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WALKTHROUGH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572768" cy="3657600"/>
          </a:xfrm>
          <a:prstGeom prst="rect">
            <a:avLst/>
          </a:prstGeom>
          <a:solidFill>
            <a:srgbClr val="0D1B6E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 Swarm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13898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dashboard — 5 satellites auto-organize in LEO orbit around Earth. Boids algorithm activates immediately.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39112" y="1051560"/>
            <a:ext cx="1572768" cy="3657600"/>
          </a:xfrm>
          <a:prstGeom prst="rect">
            <a:avLst/>
          </a:prstGeom>
          <a:solidFill>
            <a:srgbClr val="0D1B6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30552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42032" y="1508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☄️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30552" y="2148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Debris Appears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30552" y="2651760"/>
            <a:ext cx="13898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PSLV-C37 stage, Cartosat fragments spawn on orbital ring. Color-coded by threat: Red=Critical, Orange=High.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58184" y="1051560"/>
            <a:ext cx="1572768" cy="3657600"/>
          </a:xfrm>
          <a:prstGeom prst="rect">
            <a:avLst/>
          </a:prstGeom>
          <a:solidFill>
            <a:srgbClr val="0D1B6E"/>
          </a:solidFill>
          <a:ln w="2540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9624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261104" y="1508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849624" y="2148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QKD Links 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9624" y="2651760"/>
            <a:ext cx="13898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laser links appear between satellites. 'Secure key generated: 10kbps — BB84 protocol active'.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77256" y="1051560"/>
            <a:ext cx="1572768" cy="3657600"/>
          </a:xfrm>
          <a:prstGeom prst="rect">
            <a:avLst/>
          </a:prstGeom>
          <a:solidFill>
            <a:srgbClr val="0D1B6E"/>
          </a:solidFill>
          <a:ln w="25400">
            <a:solidFill>
              <a:srgbClr val="FF33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68696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33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980176" y="1508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🚨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568696" y="2148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 Simulated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68696" y="2651760"/>
            <a:ext cx="13898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threat=High → QBER spikes to 25% → 'EAVESDROPPER DETECTED — switching to Kyber-768 fallback'.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96328" y="1051560"/>
            <a:ext cx="1572768" cy="3657600"/>
          </a:xfrm>
          <a:prstGeom prst="rect">
            <a:avLst/>
          </a:prstGeom>
          <a:solidFill>
            <a:srgbClr val="0D1B6E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87768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699248" y="1508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287768" y="21488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Status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87768" y="2651760"/>
            <a:ext cx="13898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/mission_status API → full JSON health report: satellites active, debris tracked, quantum secure.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🇮🇳  ISRO MISSION RELEVANCE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NakshatraNet directly addresses four active ISRO programs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60520" cy="1600200"/>
          </a:xfrm>
          <a:prstGeom prst="rect">
            <a:avLst/>
          </a:prstGeom>
          <a:solidFill>
            <a:srgbClr val="04051A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👨‍🚀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GAGANYAAN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801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Quantum-secure crew communications. Classical RSA breaks in 2028 — Gaganyaan missions need BB84 protection from day 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60520" cy="1600200"/>
          </a:xfrm>
          <a:prstGeom prst="rect">
            <a:avLst/>
          </a:prstGeom>
          <a:solidFill>
            <a:srgbClr val="04051A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🔗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7784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SpaDeX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77840" y="1801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14884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 mapping around LEO docking zone. Two satellites rendezvousing need real-time debris avoidance — our swarm provides 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154680"/>
            <a:ext cx="4160520" cy="1600200"/>
          </a:xfrm>
          <a:prstGeom prst="rect">
            <a:avLst/>
          </a:prstGeom>
          <a:solidFill>
            <a:srgbClr val="04051A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143000" y="3246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DFSM 2030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Debris-Free Space Mission goal. NakshatraNet is the software backbone — autonomous, no ground station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160520" cy="1600200"/>
          </a:xfrm>
          <a:prstGeom prst="rect">
            <a:avLst/>
          </a:prstGeom>
          <a:solidFill>
            <a:srgbClr val="04051A"/>
          </a:solidFill>
          <a:ln w="25400">
            <a:solidFill>
              <a:srgbClr val="FF33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577840" y="3246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33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PSLV Legacy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7784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97764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129+ tracked debris from PSLV stages. Our catalog names them individually — PSLV-C37 stage is tracked by default.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NAKSHATRANET WINS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194560" cy="411480"/>
          </a:xfrm>
          <a:prstGeom prst="rect">
            <a:avLst/>
          </a:prstGeom>
          <a:solidFill>
            <a:srgbClr val="0D1B6E"/>
          </a:solidFill>
          <a:ln w="12700">
            <a:solidFill>
              <a:srgbClr val="8892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33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005840"/>
            <a:ext cx="2926080" cy="411480"/>
          </a:xfrm>
          <a:prstGeom prst="rect">
            <a:avLst/>
          </a:prstGeom>
          <a:solidFill>
            <a:srgbClr val="0D1B6E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0332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TEAMS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005840"/>
            <a:ext cx="2926080" cy="411480"/>
          </a:xfrm>
          <a:prstGeom prst="rect">
            <a:avLst/>
          </a:prstGeom>
          <a:solidFill>
            <a:srgbClr val="0D1B6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0332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NAKSHATRANET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2194560" cy="502920"/>
          </a:xfrm>
          <a:prstGeom prst="rect">
            <a:avLst/>
          </a:prstGeom>
          <a:solidFill>
            <a:srgbClr val="080D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508760"/>
            <a:ext cx="2926080" cy="502920"/>
          </a:xfrm>
          <a:prstGeom prst="rect">
            <a:avLst/>
          </a:prstGeom>
          <a:solidFill>
            <a:srgbClr val="080D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508760"/>
            <a:ext cx="2926080" cy="502920"/>
          </a:xfrm>
          <a:prstGeom prst="rect">
            <a:avLst/>
          </a:prstGeom>
          <a:solidFill>
            <a:srgbClr val="080D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Single-problem trackers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Solves debris + crypto simultaneously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075688"/>
            <a:ext cx="2194560" cy="502920"/>
          </a:xfrm>
          <a:prstGeom prst="rect">
            <a:avLst/>
          </a:prstGeom>
          <a:solidFill>
            <a:srgbClr val="0D1B6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2075688"/>
            <a:ext cx="2926080" cy="502920"/>
          </a:xfrm>
          <a:prstGeom prst="rect">
            <a:avLst/>
          </a:prstGeom>
          <a:solidFill>
            <a:srgbClr val="0D1B6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2075688"/>
            <a:ext cx="2926080" cy="502920"/>
          </a:xfrm>
          <a:prstGeom prst="rect">
            <a:avLst/>
          </a:prstGeom>
          <a:solidFill>
            <a:srgbClr val="0D1B6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167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2167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Centralized ground radar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Distributed swarm — no single failure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642616"/>
            <a:ext cx="2194560" cy="502920"/>
          </a:xfrm>
          <a:prstGeom prst="rect">
            <a:avLst/>
          </a:prstGeom>
          <a:solidFill>
            <a:srgbClr val="080D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2642616"/>
            <a:ext cx="2926080" cy="502920"/>
          </a:xfrm>
          <a:prstGeom prst="rect">
            <a:avLst/>
          </a:prstGeom>
          <a:solidFill>
            <a:srgbClr val="080D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642616"/>
            <a:ext cx="2926080" cy="502920"/>
          </a:xfrm>
          <a:prstGeom prst="rect">
            <a:avLst/>
          </a:prstGeom>
          <a:solidFill>
            <a:srgbClr val="080D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7340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2734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Classical RSA encryption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2734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BB84 QKD + Kyber-768 fallback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209544"/>
            <a:ext cx="2194560" cy="502920"/>
          </a:xfrm>
          <a:prstGeom prst="rect">
            <a:avLst/>
          </a:prstGeom>
          <a:solidFill>
            <a:srgbClr val="0D1B6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3209544"/>
            <a:ext cx="2926080" cy="502920"/>
          </a:xfrm>
          <a:prstGeom prst="rect">
            <a:avLst/>
          </a:prstGeom>
          <a:solidFill>
            <a:srgbClr val="0D1B6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3209544"/>
            <a:ext cx="2926080" cy="502920"/>
          </a:xfrm>
          <a:prstGeom prst="rect">
            <a:avLst/>
          </a:prstGeom>
          <a:solidFill>
            <a:srgbClr val="0D1B6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300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33009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Static tracking only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33009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 Boids swarm avoidance AI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776472"/>
            <a:ext cx="2194560" cy="502920"/>
          </a:xfrm>
          <a:prstGeom prst="rect">
            <a:avLst/>
          </a:prstGeom>
          <a:solidFill>
            <a:srgbClr val="080D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0" y="3776472"/>
            <a:ext cx="2926080" cy="502920"/>
          </a:xfrm>
          <a:prstGeom prst="rect">
            <a:avLst/>
          </a:prstGeom>
          <a:solidFill>
            <a:srgbClr val="080D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776472"/>
            <a:ext cx="2926080" cy="502920"/>
          </a:xfrm>
          <a:prstGeom prst="rect">
            <a:avLst/>
          </a:prstGeom>
          <a:solidFill>
            <a:srgbClr val="080D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867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Relevance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34640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Generic orbital data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Named ISRO debris + Gaganyaan ready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4343400"/>
            <a:ext cx="2194560" cy="502920"/>
          </a:xfrm>
          <a:prstGeom prst="rect">
            <a:avLst/>
          </a:prstGeom>
          <a:solidFill>
            <a:srgbClr val="0D1B6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0" y="4343400"/>
            <a:ext cx="2926080" cy="502920"/>
          </a:xfrm>
          <a:prstGeom prst="rect">
            <a:avLst/>
          </a:prstGeom>
          <a:solidFill>
            <a:srgbClr val="0D1B6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0" y="4343400"/>
            <a:ext cx="2926080" cy="502920"/>
          </a:xfrm>
          <a:prstGeom prst="rect">
            <a:avLst/>
          </a:prstGeom>
          <a:solidFill>
            <a:srgbClr val="0D1B6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3464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400+ teams built trackers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3504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0 teams combined swarm + QKD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0D1B6E">
              <a:alpha val="30000"/>
            </a:srgbClr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274320"/>
            <a:ext cx="5852160" cy="4663440"/>
          </a:xfrm>
          <a:prstGeom prst="ellipse">
            <a:avLst/>
          </a:prstGeom>
          <a:solidFill>
            <a:srgbClr val="04051A"/>
          </a:solidFill>
          <a:ln w="12700">
            <a:solidFill>
              <a:srgbClr val="00E5FF"/>
            </a:solidFill>
            <a:prstDash val="dash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783080" y="2194560"/>
            <a:ext cx="146304" cy="14630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0" y="384048"/>
            <a:ext cx="146304" cy="14630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0" y="566928"/>
            <a:ext cx="146304" cy="14630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0" y="2468880"/>
            <a:ext cx="146304" cy="14630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0" y="4572000"/>
            <a:ext cx="146304" cy="14630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0" y="4645152"/>
            <a:ext cx="146304" cy="14630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77640" y="2011680"/>
            <a:ext cx="1188720" cy="1188720"/>
          </a:xfrm>
          <a:prstGeom prst="ellipse">
            <a:avLst/>
          </a:prstGeom>
          <a:solidFill>
            <a:srgbClr val="1A6B3C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E5FF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05072" y="2057400"/>
            <a:ext cx="1133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NAKSHATRANET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"India's satellites created the debris.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swarm will clean it.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keys will protect every signal along the way."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6817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github.com/NakshatraNet  </a:t>
            </a:r>
            <a:pPr algn="ctr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National Space Hackathon 2026  |  IIT Delhi  |  🇮🇳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NakshatraNet — Quantum Swarm Debris Shield</dc:title>
  <dc:subject>PptxGenJS Presentation</dc:subject>
  <dc:creator>PptxGenJS</dc:creator>
  <cp:lastModifiedBy>PptxGenJS</cp:lastModifiedBy>
  <cp:revision>1</cp:revision>
  <dcterms:created xsi:type="dcterms:W3CDTF">2026-04-03T14:39:27Z</dcterms:created>
  <dcterms:modified xsi:type="dcterms:W3CDTF">2026-04-03T14:39:27Z</dcterms:modified>
</cp:coreProperties>
</file>